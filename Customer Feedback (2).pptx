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54ce4361-d3a1-4cea-b06a-3ca994bfd01a" TargetMode="External"/><Relationship Id="rId2" Type="http://schemas.openxmlformats.org/officeDocument/2006/relationships/hyperlink" Target="http://localhost:3000/dashboard/chart-detail?dashboardId=7874cb0d-8646-47dd-84b6-01f602b567cb&amp;tileId=ef31c085-8643-45fc-a490-3b684a1be2fc" TargetMode="External"/><Relationship Id="rId3" Type="http://schemas.openxmlformats.org/officeDocument/2006/relationships/hyperlink" Target="http://localhost:3000/dashboard/chart-detail?dashboardId=7874cb0d-8646-47dd-84b6-01f602b567cb&amp;tileId=64439ac3-f677-41c0-9c23-f04ed65e5a46" TargetMode="External"/><Relationship Id="rId4" Type="http://schemas.openxmlformats.org/officeDocument/2006/relationships/hyperlink" Target="http://localhost:3000/dashboard/chart-detail?dashboardId=7874cb0d-8646-47dd-84b6-01f602b567cb&amp;tileId=a5af6831-0816-4f5d-9c62-62e81b2b0b1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88f1c6df-569b-458b-af0b-9847f80fd4e5" TargetMode="External"/><Relationship Id="rId2" Type="http://schemas.openxmlformats.org/officeDocument/2006/relationships/hyperlink" Target="http://localhost:3000/dashboard/chart-detail?dashboardId=7874cb0d-8646-47dd-84b6-01f602b567cb&amp;tileId=88f1c6df-569b-458b-af0b-9847f80fd4e5" TargetMode="External"/><Relationship Id="rId3" Type="http://schemas.openxmlformats.org/officeDocument/2006/relationships/hyperlink" Target="http://localhost:3000/dashboard/chart-detail?dashboardId=7874cb0d-8646-47dd-84b6-01f602b567cb&amp;tileId=79110006-0863-4302-9b0f-e9cb3ac20710" TargetMode="External"/><Relationship Id="rId4" Type="http://schemas.openxmlformats.org/officeDocument/2006/relationships/hyperlink" Target="http://localhost:3000/dashboard/chart-detail?dashboardId=7874cb0d-8646-47dd-84b6-01f602b567cb&amp;tileId=79110006-0863-4302-9b0f-e9cb3ac2071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b64ce98a-40dd-45e1-af3f-0407031f7607" TargetMode="External"/><Relationship Id="rId2" Type="http://schemas.openxmlformats.org/officeDocument/2006/relationships/hyperlink" Target="http://localhost:3000/dashboard/chart-detail?dashboardId=7874cb0d-8646-47dd-84b6-01f602b567cb&amp;tileId=b64ce98a-40dd-45e1-af3f-0407031f7607" TargetMode="External"/><Relationship Id="rId3" Type="http://schemas.openxmlformats.org/officeDocument/2006/relationships/hyperlink" Target="http://localhost:3000/dashboard/chart-detail?dashboardId=7874cb0d-8646-47dd-84b6-01f602b567cb&amp;tileId=a539363f-ea03-4aa9-84a6-d81de0835897" TargetMode="External"/><Relationship Id="rId4" Type="http://schemas.openxmlformats.org/officeDocument/2006/relationships/hyperlink" Target="http://localhost:3000/dashboard/chart-detail?dashboardId=7874cb0d-8646-47dd-84b6-01f602b567cb&amp;tileId=a539363f-ea03-4aa9-84a6-d81de083589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c961a95c-3d32-404e-b300-8c07fffbf341" TargetMode="External"/><Relationship Id="rId2" Type="http://schemas.openxmlformats.org/officeDocument/2006/relationships/hyperlink" Target="http://localhost:3000/dashboard/chart-detail?dashboardId=7874cb0d-8646-47dd-84b6-01f602b567cb&amp;tileId=c961a95c-3d32-404e-b300-8c07fffbf341" TargetMode="External"/><Relationship Id="rId3" Type="http://schemas.openxmlformats.org/officeDocument/2006/relationships/hyperlink" Target="http://localhost:3000/dashboard/chart-detail?dashboardId=7874cb0d-8646-47dd-84b6-01f602b567cb&amp;tileId=0b916093-e089-4320-aa60-2132d9283152" TargetMode="External"/><Relationship Id="rId4" Type="http://schemas.openxmlformats.org/officeDocument/2006/relationships/hyperlink" Target="http://localhost:3000/dashboard/chart-detail?dashboardId=7874cb0d-8646-47dd-84b6-01f602b567cb&amp;tileId=0b916093-e089-4320-aa60-2132d928315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4411bed7-171c-4e36-bdca-b65469eda721" TargetMode="External"/><Relationship Id="rId2" Type="http://schemas.openxmlformats.org/officeDocument/2006/relationships/hyperlink" Target="http://localhost:3000/dashboard/chart-detail?dashboardId=7874cb0d-8646-47dd-84b6-01f602b567cb&amp;tileId=4411bed7-171c-4e36-bdca-b65469eda72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91440" cy="685800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FEEDBACK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E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Landside &amp; Airside Customer Feedback – Irregularity, Complaint &amp; Compliment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Gapura Angkasa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Februari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2918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 REPORT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1430000" cy="3200400"/>
          </a:xfrm>
          <a:prstGeom prst="roundRect">
            <a:avLst>
              <a:gd name="adj" fmla="val 2857"/>
            </a:avLst>
          </a:prstGeom>
          <a:solidFill>
            <a:srgbClr val="F8FAF4"/>
          </a:solidFill>
          <a:ln w="6350">
            <a:solidFill>
              <a:srgbClr val="E6F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12700">
            <a:solidFill>
              <a:srgbClr val="5A7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3D"/>
                </a:solidFill>
              </a:rPr>
              <a:t>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427 feedback entries, dengan 64% (276) berupa Irregularity, 31% (133) Complaint, dan 4% (18) Compliment, menandakan tekanan operasional yang signifikan pada 3S.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3D"/>
                </a:solidFill>
              </a:rPr>
              <a:t>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CGK branch menyumbang 53% (227/427) laporan, termasuk 48% (133/276) Irregularity, menandakan titik kritis di area landside.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3D"/>
                </a:solidFill>
              </a:rPr>
              <a:t>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Garuda Indonesia menghasilkan 147 laporan, 69% (96/147) Irregularity, menunjukkan kebutuhan peningkatan koordinasi dengan maskapai utama.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212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3D"/>
                </a:solidFill>
              </a:rPr>
              <a:t>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Puncak volume terjadi pada September 2025 (57) dan Desember 2025 (56), mengindikasikan beban musiman yang memengaruhi OTP.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3D"/>
                </a:solidFill>
              </a:rPr>
              <a:t>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Area memegang 49% (211/427) laporan, menyoroti potensi bottleneck di area penumpang.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 by Case Category</a:t>
            </a:r>
            <a:endParaRPr lang="en-US" sz="11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5" name="Text 12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Branch Report</a:t>
            </a:r>
            <a:endParaRPr lang="en-US" sz="1100" dirty="0"/>
          </a:p>
        </p:txBody>
      </p:sp>
      <p:sp>
        <p:nvSpPr>
          <p:cNvPr id="16" name="Text 13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10 rows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Airlines Report</a:t>
            </a:r>
            <a:endParaRPr lang="en-US" sz="11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VietJet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Airways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Korean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Airlines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10 rows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6" name="Text 13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Monthly Report</a:t>
            </a:r>
            <a:endParaRPr lang="en-US" sz="1100" dirty="0"/>
          </a:p>
        </p:txBody>
      </p:sp>
      <p:sp>
        <p:nvSpPr>
          <p:cNvPr id="17" name="Text 14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12 rows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Category by Area</a:t>
            </a:r>
            <a:endParaRPr lang="en-US" sz="11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Apron 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5" name="Text 12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Category by Branch</a:t>
            </a:r>
            <a:endParaRPr lang="en-US" sz="1100" dirty="0"/>
          </a:p>
        </p:txBody>
      </p:sp>
      <p:sp>
        <p:nvSpPr>
          <p:cNvPr id="16" name="Text 13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45 rows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1430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50292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Category by Airlines</a:t>
            </a:r>
            <a:endParaRPr lang="en-US" sz="11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3000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VietJet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Airline Case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Airlines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Airways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Korean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48920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14 of 62 rows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&amp; Langkah Selanjutnya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201168" cy="201168"/>
          </a:xfrm>
          <a:prstGeom prst="rect">
            <a:avLst>
              <a:gd name="adj" fmla="val 18182"/>
            </a:avLst>
          </a:prstGeom>
          <a:solidFill>
            <a:srgbClr val="6B8E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22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7772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Strategis: Implementasi sistem manajemen insiden berbasis AI untuk triage otomatis dan analisis akar penyebab Irregularity.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201168" cy="201168"/>
          </a:xfrm>
          <a:prstGeom prst="rect">
            <a:avLst>
              <a:gd name="adj" fmla="val 18182"/>
            </a:avLst>
          </a:prstGeom>
          <a:solidFill>
            <a:srgbClr val="6B8E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4630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Taktis: Menambah petugas layanan di CGK dan DPS selama bulan September‑Desember 2025 untuk mengurangi beban operasional.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201168" cy="201168"/>
          </a:xfrm>
          <a:prstGeom prst="rect">
            <a:avLst>
              <a:gd name="adj" fmla="val 18182"/>
            </a:avLst>
          </a:prstGeom>
          <a:solidFill>
            <a:srgbClr val="6B8E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Operasional: Menyusun program pelatihan standar prosedur check‑in bersama maskapai utama (Garuda, Citilink) guna menurunkan Irregularity.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11430000" cy="502920"/>
          </a:xfrm>
          <a:prstGeom prst="rect">
            <a:avLst>
              <a:gd name="adj" fmla="val 7273"/>
            </a:avLst>
          </a:prstGeom>
          <a:solidFill>
            <a:srgbClr val="E6F0D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278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data ini, Gapura Angkasa dapat menargetkan intervensi tepat guna meningkatkan keselamatan, keamanan, layanan, dan ketepatan waktu, memastikan kepuasan pelanggan dan reputasi yang lebih kuat.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B8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5A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75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2743200" cy="22860"/>
          </a:xfrm>
          <a:prstGeom prst="rect">
            <a:avLst/>
          </a:prstGeom>
          <a:solidFill>
            <a:srgbClr val="D4E8C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474720"/>
            <a:ext cx="975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Gapura Angkasa  |  16 Februari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Customer Feedback</dc:subject>
  <dc:creator>Gapura Indonesia</dc:creator>
  <cp:lastModifiedBy>Gapura Indonesia</cp:lastModifiedBy>
  <cp:revision>1</cp:revision>
  <dcterms:created xsi:type="dcterms:W3CDTF">2026-02-16T03:53:47Z</dcterms:created>
  <dcterms:modified xsi:type="dcterms:W3CDTF">2026-02-16T03:53:47Z</dcterms:modified>
</cp:coreProperties>
</file>